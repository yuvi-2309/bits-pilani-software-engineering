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53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92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6F636E-2C18-4804-9709-466D8184D4C9}">
  <a:tblStyle styleId="{D36F636E-2C18-4804-9709-466D8184D4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F19F738-B37D-4C68-9EBD-92E2DAF62CA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CB1D229-CAF5-4BE7-83F5-A9F301269990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0"/>
  </p:normalViewPr>
  <p:slideViewPr>
    <p:cSldViewPr snapToGrid="0">
      <p:cViewPr varScale="1">
        <p:scale>
          <a:sx n="105" d="100"/>
          <a:sy n="105" d="100"/>
        </p:scale>
        <p:origin x="184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5308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  <a:defRPr sz="36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 descr="BITS_university_logo_whitevert.png"/>
          <p:cNvPicPr preferRelativeResize="0"/>
          <p:nvPr/>
        </p:nvPicPr>
        <p:blipFill rotWithShape="1">
          <a:blip r:embed="rId4">
            <a:alphaModFix/>
          </a:blip>
          <a:srcRect t="1" b="28591"/>
          <a:stretch/>
        </p:blipFill>
        <p:spPr>
          <a:xfrm>
            <a:off x="76200" y="3352800"/>
            <a:ext cx="2057400" cy="197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-76200" y="5257800"/>
            <a:ext cx="22098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2084387" y="6550025"/>
            <a:ext cx="7059612" cy="49212"/>
            <a:chOff x="2083888" y="6550671"/>
            <a:chExt cx="7060112" cy="48665"/>
          </a:xfrm>
        </p:grpSpPr>
        <p:sp>
          <p:nvSpPr>
            <p:cNvPr id="23" name="Google Shape;23;p3"/>
            <p:cNvSpPr txBox="1"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" name="Google Shape;26;p3" descr="Picture 7.png"/>
          <p:cNvPicPr preferRelativeResize="0"/>
          <p:nvPr/>
        </p:nvPicPr>
        <p:blipFill rotWithShape="1">
          <a:blip r:embed="rId3">
            <a:alphaModFix/>
          </a:blip>
          <a:srcRect l="1921" b="5332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2133600" y="6553200"/>
            <a:ext cx="7010400" cy="46037"/>
            <a:chOff x="1905000" y="6553200"/>
            <a:chExt cx="7010400" cy="45719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 txBox="1"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 txBox="1"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0" y="1295400"/>
            <a:ext cx="7010400" cy="46037"/>
            <a:chOff x="1905000" y="6553200"/>
            <a:chExt cx="7010400" cy="45719"/>
          </a:xfrm>
        </p:grpSpPr>
        <p:sp>
          <p:nvSpPr>
            <p:cNvPr id="32" name="Google Shape;32;p3"/>
            <p:cNvSpPr txBox="1"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 txBox="1"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insights.com/research-unicorn-compani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insights.com/research-unicorn-compani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me.kpmg/in/en/home/insights/2019/01/startup-landscape-ecosystem-growing-mature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me.kpmg/in/en/home/insights/2019/01/startup-landscape-ecosystem-growing-mature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br.org/2016/04/pipelines-platforms-and-the-new-rules-of-strategy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2571750" y="5181600"/>
            <a:ext cx="6019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Joydeep Barman</a:t>
            </a:r>
            <a:endParaRPr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413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2362200" y="3670300"/>
            <a:ext cx="6248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121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en-US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 Product </a:t>
            </a:r>
            <a:r>
              <a:rPr lang="en-US" sz="3200" dirty="0"/>
              <a:t>M</a:t>
            </a:r>
            <a:r>
              <a:rPr lang="en-US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anagement</a:t>
            </a:r>
            <a:br>
              <a:rPr lang="en-US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indent="-342900">
              <a:buFont typeface="Arial"/>
              <a:buChar char="•"/>
            </a:pPr>
            <a:r>
              <a:rPr lang="en-US" sz="2000" dirty="0"/>
              <a:t>About this course</a:t>
            </a:r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endParaRPr lang="en-US" sz="2000"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Software products scenario</a:t>
            </a:r>
            <a:endParaRPr sz="2000"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What is spurring product industry? 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Different product categories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Project business vs Product business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What is Product management?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0114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body" idx="2"/>
          </p:nvPr>
        </p:nvSpPr>
        <p:spPr>
          <a:xfrm>
            <a:off x="444284" y="3050583"/>
            <a:ext cx="781434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Software products scenario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 sz="3200"/>
              <a:t>Software product revolution started in Silicon valley</a:t>
            </a:r>
            <a:endParaRPr sz="3200"/>
          </a:p>
        </p:txBody>
      </p:sp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150" y="1596390"/>
            <a:ext cx="5727700" cy="36652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/>
        </p:nvSpPr>
        <p:spPr>
          <a:xfrm flipH="1">
            <a:off x="4079599" y="5379095"/>
            <a:ext cx="25498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Silicon valley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/>
        </p:nvSpPr>
        <p:spPr>
          <a:xfrm flipH="1">
            <a:off x="345987" y="3495208"/>
            <a:ext cx="9847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Stanford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 rot="10800000" flipH="1">
            <a:off x="1277257" y="3495208"/>
            <a:ext cx="2656114" cy="27850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8" name="Google Shape;88;p10"/>
          <p:cNvSpPr txBox="1"/>
          <p:nvPr/>
        </p:nvSpPr>
        <p:spPr>
          <a:xfrm flipH="1">
            <a:off x="951770" y="6019800"/>
            <a:ext cx="74084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companies in Silicon valley: HP, Xerox, Apple, Oracle,…..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/>
              <a:t>Convergence of Academia (Stanford, UC Berkley), the Private Sector, and Government </a:t>
            </a:r>
            <a:endParaRPr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/>
              <a:t>High Density of Wealthy Investors and Funding Institutions </a:t>
            </a:r>
            <a:endParaRPr sz="2000" b="1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/>
              <a:t>Inspiration From Past Success Stories </a:t>
            </a:r>
            <a:endParaRPr sz="200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/>
              <a:t>Cultural diversity: Half the startups belong to Indians and Chinese</a:t>
            </a:r>
            <a:endParaRPr sz="200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/>
              <a:t>Level-headed Approach to Failure </a:t>
            </a:r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How Silicon Valley became successful?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 dirty="0"/>
              <a:t>Today there are 1K+ unicorns across the world</a:t>
            </a:r>
            <a:endParaRPr dirty="0"/>
          </a:p>
        </p:txBody>
      </p:sp>
      <p:graphicFrame>
        <p:nvGraphicFramePr>
          <p:cNvPr id="100" name="Google Shape;100;p12"/>
          <p:cNvGraphicFramePr/>
          <p:nvPr>
            <p:extLst>
              <p:ext uri="{D42A27DB-BD31-4B8C-83A1-F6EECF244321}">
                <p14:modId xmlns:p14="http://schemas.microsoft.com/office/powerpoint/2010/main" val="2232666738"/>
              </p:ext>
            </p:extLst>
          </p:nvPr>
        </p:nvGraphicFramePr>
        <p:xfrm>
          <a:off x="1901371" y="1959426"/>
          <a:ext cx="3743800" cy="2570575"/>
        </p:xfrm>
        <a:graphic>
          <a:graphicData uri="http://schemas.openxmlformats.org/drawingml/2006/table">
            <a:tbl>
              <a:tblPr>
                <a:noFill/>
                <a:tableStyleId>{D36F636E-2C18-4804-9709-466D8184D4C9}</a:tableStyleId>
              </a:tblPr>
              <a:tblGrid>
                <a:gridCol w="210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of Unicorns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D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States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300+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China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140+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50+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Kingdom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30+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Germany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 Korea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Google Shape;101;p12"/>
          <p:cNvSpPr/>
          <p:nvPr/>
        </p:nvSpPr>
        <p:spPr>
          <a:xfrm>
            <a:off x="1914109" y="6083350"/>
            <a:ext cx="4532010" cy="32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https://www.cbinsights.com/research-unicorn-companies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Unicorns by industry</a:t>
            </a:r>
            <a:endParaRPr/>
          </a:p>
        </p:txBody>
      </p:sp>
      <p:graphicFrame>
        <p:nvGraphicFramePr>
          <p:cNvPr id="107" name="Google Shape;107;p13"/>
          <p:cNvGraphicFramePr/>
          <p:nvPr>
            <p:extLst>
              <p:ext uri="{D42A27DB-BD31-4B8C-83A1-F6EECF244321}">
                <p14:modId xmlns:p14="http://schemas.microsoft.com/office/powerpoint/2010/main" val="3441286654"/>
              </p:ext>
            </p:extLst>
          </p:nvPr>
        </p:nvGraphicFramePr>
        <p:xfrm>
          <a:off x="1605641" y="2248581"/>
          <a:ext cx="5404750" cy="3036075"/>
        </p:xfrm>
        <a:graphic>
          <a:graphicData uri="http://schemas.openxmlformats.org/drawingml/2006/table">
            <a:tbl>
              <a:tblPr>
                <a:noFill/>
                <a:tableStyleId>{D36F636E-2C18-4804-9709-466D8184D4C9}</a:tableStyleId>
              </a:tblPr>
              <a:tblGrid>
                <a:gridCol w="384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Industry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D7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 of Unicorns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4D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Fintech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software &amp; services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E-commerce &amp; direct-to-consumer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&amp; telecommunications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35+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8" name="Google Shape;108;p13"/>
          <p:cNvSpPr/>
          <p:nvPr/>
        </p:nvSpPr>
        <p:spPr>
          <a:xfrm>
            <a:off x="1914109" y="6083350"/>
            <a:ext cx="4532010" cy="32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https://www.cbinsights.com/research-unicorn-companies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Tech start-ups – Advanced technology (India)</a:t>
            </a:r>
            <a:endParaRPr/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3943" y="1437437"/>
            <a:ext cx="4989286" cy="482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304799" y="6146269"/>
            <a:ext cx="87085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KPMG report: </a:t>
            </a:r>
            <a:r>
              <a:rPr lang="en-US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https://home.kpmg/in/en/home/insights/2019/01/startup-landscape-ecosystem-growing-mature.html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Tech start-ups – job creation (India)</a:t>
            </a:r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3658" y="1388259"/>
            <a:ext cx="4945742" cy="490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304799" y="6204326"/>
            <a:ext cx="87085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KPMG report: </a:t>
            </a:r>
            <a:r>
              <a:rPr lang="en-US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https://home.kpmg/in/en/home/insights/2019/01/startup-landscape-ecosystem-growing-mature.html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Global market reach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Cloud resources – Amazon AWS, Microsoft Azure, IBM, Google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Funding – 100+ angel investors in 2022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000" dirty="0"/>
              <a:t>Talent pool</a:t>
            </a:r>
            <a:endParaRPr sz="2000" dirty="0"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What is spurring product industry?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Unicorns in India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 flipH="1">
            <a:off x="1805846" y="6534911"/>
            <a:ext cx="6057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Courtesy: https://</a:t>
            </a:r>
            <a:r>
              <a:rPr lang="en-US" dirty="0" err="1"/>
              <a:t>www.ventureintelligence.com</a:t>
            </a:r>
            <a:r>
              <a:rPr lang="en-US" dirty="0"/>
              <a:t>/Indian-Unicorn-Tracker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30824-D78C-4AF4-6E0E-4CFC76B8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37" y="1432980"/>
            <a:ext cx="7772400" cy="49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7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Unicorns in India</a:t>
            </a:r>
            <a:endParaRPr/>
          </a:p>
        </p:txBody>
      </p:sp>
      <p:sp>
        <p:nvSpPr>
          <p:cNvPr id="2" name="TextBox 1"/>
          <p:cNvSpPr txBox="1"/>
          <p:nvPr/>
        </p:nvSpPr>
        <p:spPr>
          <a:xfrm flipH="1">
            <a:off x="1402080" y="5989967"/>
            <a:ext cx="5782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Courtesy: https://</a:t>
            </a:r>
            <a:r>
              <a:rPr lang="en-US" dirty="0" err="1"/>
              <a:t>www.ventureintelligence.com</a:t>
            </a:r>
            <a:r>
              <a:rPr lang="en-US" dirty="0"/>
              <a:t>/Indian-Unicorn-Tracker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6C3116-A202-6E22-E5B7-A28EC98B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37" y="1787062"/>
            <a:ext cx="7772400" cy="29668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body" idx="2"/>
          </p:nvPr>
        </p:nvSpPr>
        <p:spPr>
          <a:xfrm>
            <a:off x="1262740" y="3084291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Product categories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By industry – Finance, Health, Retail, Travel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By technology – AI/ML, Analytics, Robotics, IoT</a:t>
            </a:r>
            <a:endParaRPr sz="1800"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B2B vs B2C 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SaaS vs On-premise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Mobile vs Web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Regular vs API products (Payment gateway, Google Maps, SMS gateway, Banking API)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Product vs Product-cum-service (Ola, Uber, Flipkart)</a:t>
            </a:r>
            <a:endParaRPr dirty="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Product (Paytm), Product platform (Ola), Product family (Office on Windows, Office on Mac, Office on Android), Product Line (</a:t>
            </a:r>
            <a:r>
              <a:rPr lang="en-US" sz="1800" dirty="0" err="1"/>
              <a:t>Roclwell</a:t>
            </a:r>
            <a:r>
              <a:rPr lang="en-US" sz="1800" dirty="0"/>
              <a:t> Collin avionics)</a:t>
            </a:r>
            <a:endParaRPr sz="1800" dirty="0">
              <a:solidFill>
                <a:srgbClr val="FF0000"/>
              </a:solidFill>
            </a:endParaRPr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>
                <a:solidFill>
                  <a:srgbClr val="FF0000"/>
                </a:solidFill>
              </a:rPr>
              <a:t>Any other?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159" name="Google Shape;159;p2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categories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376732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E-Commerce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 err="1"/>
              <a:t>HealthTech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FinTech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EdTech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 err="1"/>
              <a:t>TravelTech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Logistics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Consumer services 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Enterprise 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Deep tech</a:t>
            </a:r>
            <a:endParaRPr dirty="0"/>
          </a:p>
          <a:p>
            <a:pPr marL="3556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/>
              <a:t>Software dev</a:t>
            </a:r>
            <a:endParaRPr dirty="0"/>
          </a:p>
        </p:txBody>
      </p:sp>
      <p:sp>
        <p:nvSpPr>
          <p:cNvPr id="165" name="Google Shape;165;p2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Industry segments</a:t>
            </a:r>
            <a:endParaRPr/>
          </a:p>
        </p:txBody>
      </p:sp>
      <p:sp>
        <p:nvSpPr>
          <p:cNvPr id="2" name="Google Shape;164;p22">
            <a:extLst>
              <a:ext uri="{FF2B5EF4-FFF2-40B4-BE49-F238E27FC236}">
                <a16:creationId xmlns:a16="http://schemas.microsoft.com/office/drawing/2014/main" id="{147C59DF-B6BB-385D-5CB0-C2A2F98A3EFE}"/>
              </a:ext>
            </a:extLst>
          </p:cNvPr>
          <p:cNvSpPr txBox="1">
            <a:spLocks/>
          </p:cNvSpPr>
          <p:nvPr/>
        </p:nvSpPr>
        <p:spPr>
          <a:xfrm>
            <a:off x="3633216" y="1488058"/>
            <a:ext cx="5205984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 indent="0"/>
            <a:r>
              <a:rPr lang="en-US" dirty="0"/>
              <a:t>– Amazon, Flipkart</a:t>
            </a:r>
          </a:p>
          <a:p>
            <a:pPr marL="12700" indent="0"/>
            <a:r>
              <a:rPr lang="en-US" dirty="0"/>
              <a:t>– </a:t>
            </a:r>
            <a:r>
              <a:rPr lang="en-US" dirty="0" err="1"/>
              <a:t>Practo</a:t>
            </a:r>
            <a:r>
              <a:rPr lang="en-US" dirty="0"/>
              <a:t>, Tata Health, </a:t>
            </a:r>
            <a:r>
              <a:rPr lang="en-US" dirty="0" err="1"/>
              <a:t>Qure.ai</a:t>
            </a:r>
            <a:endParaRPr lang="en-US" dirty="0"/>
          </a:p>
          <a:p>
            <a:pPr marL="12700" indent="0"/>
            <a:r>
              <a:rPr lang="en-US" dirty="0"/>
              <a:t>– Paytm, </a:t>
            </a:r>
            <a:r>
              <a:rPr lang="en-US" dirty="0" err="1"/>
              <a:t>Razorpay</a:t>
            </a:r>
            <a:endParaRPr lang="en-US" dirty="0"/>
          </a:p>
          <a:p>
            <a:pPr marL="12700" indent="0"/>
            <a:r>
              <a:rPr lang="en-US" dirty="0"/>
              <a:t>- </a:t>
            </a:r>
            <a:r>
              <a:rPr lang="en-US" dirty="0" err="1"/>
              <a:t>Byju’s</a:t>
            </a:r>
            <a:r>
              <a:rPr lang="en-US" dirty="0"/>
              <a:t>, </a:t>
            </a:r>
            <a:r>
              <a:rPr lang="en-US" dirty="0" err="1"/>
              <a:t>upGrad</a:t>
            </a:r>
            <a:r>
              <a:rPr lang="en-US" dirty="0"/>
              <a:t>, Udemy </a:t>
            </a:r>
          </a:p>
          <a:p>
            <a:pPr marL="12700" indent="0"/>
            <a:r>
              <a:rPr lang="en-US" dirty="0"/>
              <a:t>– MakeMyTrip, </a:t>
            </a:r>
            <a:r>
              <a:rPr lang="en-US" dirty="0" err="1"/>
              <a:t>Tripadvisor</a:t>
            </a:r>
            <a:endParaRPr lang="en-US" dirty="0"/>
          </a:p>
          <a:p>
            <a:pPr marL="12700" indent="0"/>
            <a:r>
              <a:rPr lang="en-US" dirty="0"/>
              <a:t>– </a:t>
            </a:r>
            <a:r>
              <a:rPr lang="en-US" dirty="0" err="1"/>
              <a:t>Xpressbees</a:t>
            </a:r>
            <a:r>
              <a:rPr lang="en-US" dirty="0"/>
              <a:t>, </a:t>
            </a:r>
            <a:r>
              <a:rPr lang="en-US" dirty="0" err="1"/>
              <a:t>Dunzo</a:t>
            </a:r>
            <a:r>
              <a:rPr lang="en-US" dirty="0"/>
              <a:t>, </a:t>
            </a:r>
            <a:r>
              <a:rPr lang="en-US" dirty="0" err="1"/>
              <a:t>Delhivery</a:t>
            </a:r>
            <a:endParaRPr lang="en-US" dirty="0"/>
          </a:p>
          <a:p>
            <a:pPr marL="12700" indent="0"/>
            <a:r>
              <a:rPr lang="en-US" dirty="0"/>
              <a:t>– </a:t>
            </a:r>
            <a:r>
              <a:rPr lang="en-US" dirty="0" err="1"/>
              <a:t>Swiggy</a:t>
            </a:r>
            <a:r>
              <a:rPr lang="en-US" dirty="0"/>
              <a:t>, Zomato </a:t>
            </a:r>
          </a:p>
          <a:p>
            <a:pPr marL="12700" indent="0"/>
            <a:r>
              <a:rPr lang="en-US" dirty="0"/>
              <a:t>– </a:t>
            </a:r>
            <a:r>
              <a:rPr lang="en-US" dirty="0" err="1"/>
              <a:t>Zoho</a:t>
            </a:r>
            <a:r>
              <a:rPr lang="en-US" dirty="0"/>
              <a:t>, </a:t>
            </a:r>
            <a:r>
              <a:rPr lang="en-US" dirty="0" err="1"/>
              <a:t>Kissflow</a:t>
            </a:r>
            <a:r>
              <a:rPr lang="en-US" dirty="0"/>
              <a:t>, </a:t>
            </a:r>
            <a:r>
              <a:rPr lang="en-US" dirty="0" err="1"/>
              <a:t>DarwinBox</a:t>
            </a:r>
            <a:endParaRPr lang="en-US" dirty="0"/>
          </a:p>
          <a:p>
            <a:pPr marL="12700" indent="0"/>
            <a:r>
              <a:rPr lang="en-US" dirty="0"/>
              <a:t>- </a:t>
            </a:r>
            <a:r>
              <a:rPr lang="en-US" dirty="0" err="1"/>
              <a:t>Niflr</a:t>
            </a:r>
            <a:r>
              <a:rPr lang="en-US" dirty="0"/>
              <a:t>, Logically, </a:t>
            </a:r>
            <a:r>
              <a:rPr lang="en-US" dirty="0" err="1"/>
              <a:t>AskSarkar</a:t>
            </a:r>
            <a:endParaRPr lang="en-US" dirty="0"/>
          </a:p>
          <a:p>
            <a:pPr marL="12700" indent="0"/>
            <a:r>
              <a:rPr lang="en-US" dirty="0"/>
              <a:t>– Postman, </a:t>
            </a:r>
            <a:r>
              <a:rPr lang="en-US" dirty="0" err="1"/>
              <a:t>WorkDuck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/>
              <a:t>Product platform: Amazon AWS, Android, Uber, PayPal, Facebook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/>
              <a:t>The technical foundation / eco system on which several software products are based.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platform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718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platform</a:t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875" y="1136196"/>
            <a:ext cx="8096250" cy="55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/>
          <p:nvPr/>
        </p:nvSpPr>
        <p:spPr>
          <a:xfrm>
            <a:off x="6472011" y="6041517"/>
            <a:ext cx="2148114" cy="830997"/>
          </a:xfrm>
          <a:prstGeom prst="rect">
            <a:avLst/>
          </a:prstGeom>
          <a:solidFill>
            <a:srgbClr val="FBD4B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Source: </a:t>
            </a:r>
            <a:r>
              <a:rPr lang="en-US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https://hbr.org/2016/04/pipelines-platforms-and-the-new-rules-of-strategy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/>
              <a:t>Product family: Microsoft Office (Word, Excel, PowerPoint, OneNote, Outlook)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/>
              <a:t>A group of software products that are marketed as belonging together under a common family name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family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/>
              <a:t>Product line: Rockwell Collins Avionics systems for different helicopters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</a:pPr>
            <a:r>
              <a:rPr lang="en-US"/>
              <a:t>a collection of similar software systems from a shared set of software assets using a common means of production.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line</a:t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4670197"/>
            <a:ext cx="8991600" cy="1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business and Project business</a:t>
            </a:r>
            <a:endParaRPr/>
          </a:p>
        </p:txBody>
      </p:sp>
      <p:graphicFrame>
        <p:nvGraphicFramePr>
          <p:cNvPr id="197" name="Google Shape;197;p27"/>
          <p:cNvGraphicFramePr/>
          <p:nvPr/>
        </p:nvGraphicFramePr>
        <p:xfrm>
          <a:off x="624114" y="1455055"/>
          <a:ext cx="7953825" cy="4931325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9FC3FF"/>
                    </a:gs>
                    <a:gs pos="35000">
                      <a:srgbClr val="BDD5FF"/>
                    </a:gs>
                    <a:gs pos="100000">
                      <a:srgbClr val="E4EEFF"/>
                    </a:gs>
                  </a:gsLst>
                  <a:lin ang="16200000" scaled="0"/>
                </a:gradFill>
                <a:tableStyleId>{EF19F738-B37D-4C68-9EBD-92E2DAF62CAF}</a:tableStyleId>
              </a:tblPr>
              <a:tblGrid>
                <a:gridCol w="26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Dimension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Product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Project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Risk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High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Low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Returns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High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Low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Duration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Ongoing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Pre-determined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Customers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Many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One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Objective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Discovered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Given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Funding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Internal &amp; external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Internal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Marketing effort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High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Low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Management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Strategic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Tactical / operational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“The job of a product manager is to discover a product that is valuable, usable and feasible.” – Marty </a:t>
            </a:r>
            <a:r>
              <a:rPr lang="en-US" sz="1800" dirty="0" err="1"/>
              <a:t>Cagan</a:t>
            </a:r>
            <a:r>
              <a:rPr lang="en-US" sz="1800" dirty="0"/>
              <a:t>, Author of ‘Inspired’</a:t>
            </a:r>
            <a:endParaRPr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“Product management is an intersection between business, user experience, and technology” – Martin Eriksson, Author of Product Leadership</a:t>
            </a:r>
            <a:endParaRPr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  <a:p>
            <a:pPr marL="469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 dirty="0"/>
              <a:t>“Product management is the glue that holds together all the various functions” - Ken Norton, Product Partner at Google Ventures</a:t>
            </a:r>
            <a:endParaRPr sz="1800" dirty="0"/>
          </a:p>
          <a:p>
            <a:pPr marL="5715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 dirty="0"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What is Product Management?</a:t>
            </a:r>
            <a:endParaRPr/>
          </a:p>
        </p:txBody>
      </p:sp>
      <p:pic>
        <p:nvPicPr>
          <p:cNvPr id="204" name="Google Shape;204;p28" descr="Product management has been called the intersection between business, technology, and user experience (source: Martin Eriksson, 2011)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8131" y="3192055"/>
            <a:ext cx="2732497" cy="235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/>
              <a:t>You need to be really good at strategy, be inspirational, and understand the long-term picture. </a:t>
            </a:r>
            <a:endParaRPr sz="1800"/>
          </a:p>
          <a:p>
            <a:pPr marL="469900" lvl="0" indent="-190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</a:pPr>
            <a:endParaRPr sz="1800"/>
          </a:p>
          <a:p>
            <a:pPr marL="469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/>
              <a:t>At the same time, you have to be really good at the operational side and making things happen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Setting a vision</a:t>
            </a:r>
            <a:endParaRPr sz="1800"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Creating a roadmap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Build the product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Talk to customers</a:t>
            </a:r>
            <a:endParaRPr/>
          </a:p>
          <a:p>
            <a: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5715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1800"/>
              <a:t>You need the soft skills of persuasion, negotiation, storytelling, vision setting and communication</a:t>
            </a:r>
            <a:endParaRPr/>
          </a:p>
          <a:p>
            <a:pPr marL="137160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Management role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Product Management role</a:t>
            </a:r>
            <a:endParaRPr/>
          </a:p>
        </p:txBody>
      </p:sp>
      <p:pic>
        <p:nvPicPr>
          <p:cNvPr id="216" name="Google Shape;216;p30" descr="Applications Leaders: Product Managers Amplify Agile Resul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915" y="1414009"/>
            <a:ext cx="7315199" cy="500130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7340301" y="6092470"/>
            <a:ext cx="1803699" cy="322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Ref: Product Plan.com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 dirty="0"/>
              <a:t>Hope you have the handout!</a:t>
            </a:r>
            <a:endParaRPr dirty="0"/>
          </a:p>
        </p:txBody>
      </p:sp>
      <p:sp>
        <p:nvSpPr>
          <p:cNvPr id="223" name="Google Shape;223;p3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About the course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/>
              <a:t>Name one product company you admire.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</a:pPr>
            <a:r>
              <a:rPr lang="en-US"/>
              <a:t>What is the reason you admire this company?</a:t>
            </a:r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71463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/>
              <a:t>Sharing thoughts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808</Words>
  <Application>Microsoft Macintosh PowerPoint</Application>
  <PresentationFormat>On-screen Show (4:3)</PresentationFormat>
  <Paragraphs>170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2_Office Theme</vt:lpstr>
      <vt:lpstr>4_Office Theme</vt:lpstr>
      <vt:lpstr>Software Product Management 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product management  Introduction</dc:title>
  <cp:lastModifiedBy>Barman, Joydeep</cp:lastModifiedBy>
  <cp:revision>18</cp:revision>
  <dcterms:modified xsi:type="dcterms:W3CDTF">2025-10-24T19:28:37Z</dcterms:modified>
</cp:coreProperties>
</file>